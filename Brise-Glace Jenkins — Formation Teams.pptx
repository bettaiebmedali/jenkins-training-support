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embeddedFontLst>
    <p:embeddedFont>
      <p:font typeface="Helvetica 75 Bold" panose="020B0804020202020204" pitchFamily="34" charset="0"/>
      <p:bold r:id="rId9"/>
    </p:embeddedFont>
    <p:embeddedFont>
      <p:font typeface="Plus Jakarta Sans"/>
      <p:bold r:id="rId10"/>
      <p:italic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314351-13C7-448A-89CE-6368B0038ACF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361560-9869-40F0-98A0-F8F83C714C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9776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u="none" dirty="0">
                <a:solidFill>
                  <a:srgbClr val="9A3412"/>
                </a:solidFill>
                <a:latin typeface="Plus Jakarta Sans"/>
              </a:rPr>
              <a:t>Déjà eu envie de supprimer le fichier pour régler un conflit ? Tapez </a:t>
            </a:r>
            <a:r>
              <a:rPr lang="fr-FR" sz="1200" b="1" i="0" u="none" dirty="0">
                <a:solidFill>
                  <a:srgbClr val="9A3412"/>
                </a:solidFill>
                <a:latin typeface="Plus Jakarta Sans"/>
              </a:rPr>
              <a:t>MOI</a:t>
            </a:r>
            <a:r>
              <a:rPr lang="fr-FR" sz="1200" b="0" i="0" u="none" dirty="0">
                <a:solidFill>
                  <a:srgbClr val="9A3412"/>
                </a:solidFill>
                <a:latin typeface="Plus Jakarta Sans"/>
              </a:rPr>
              <a:t> !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361560-9869-40F0-98A0-F8F83C714C13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76509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u="none" dirty="0">
                <a:solidFill>
                  <a:srgbClr val="B91C1C"/>
                </a:solidFill>
                <a:latin typeface="Plus Jakarta Sans"/>
              </a:rPr>
              <a:t>Plus de temps passé à chercher une erreur d'indentation YAML qu'à coder ? Répondez </a:t>
            </a:r>
            <a:r>
              <a:rPr lang="fr-FR" sz="1200" b="1" i="0" u="none" dirty="0">
                <a:solidFill>
                  <a:srgbClr val="B91C1C"/>
                </a:solidFill>
                <a:latin typeface="Plus Jakarta Sans"/>
              </a:rPr>
              <a:t>😂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361560-9869-40F0-98A0-F8F83C714C13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070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i="0" u="none" dirty="0">
                <a:solidFill>
                  <a:srgbClr val="0369A1"/>
                </a:solidFill>
                <a:latin typeface="Plus Jakarta Sans"/>
              </a:rPr>
              <a:t>"Mais ça marche sur ma machine !" — Répondez OUI !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361560-9869-40F0-98A0-F8F83C714C13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960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u="none" dirty="0">
                <a:solidFill>
                  <a:srgbClr val="1E3A8A"/>
                </a:solidFill>
                <a:latin typeface="Plus Jakarta Sans"/>
              </a:rPr>
              <a:t>Qui a déjà pensé </a:t>
            </a:r>
            <a:r>
              <a:rPr lang="fr-FR" sz="1200" b="0" i="1" u="none" dirty="0">
                <a:solidFill>
                  <a:srgbClr val="1E3A8A"/>
                </a:solidFill>
                <a:latin typeface="Plus Jakarta Sans"/>
              </a:rPr>
              <a:t>"C'est un problème réseau"</a:t>
            </a:r>
            <a:r>
              <a:rPr lang="fr-FR" sz="1200" b="0" i="0" u="none" dirty="0">
                <a:solidFill>
                  <a:srgbClr val="1E3A8A"/>
                </a:solidFill>
                <a:latin typeface="Plus Jakarta Sans"/>
              </a:rPr>
              <a:t> avant de lire les logs ? Tapez </a:t>
            </a:r>
            <a:r>
              <a:rPr lang="fr-FR" sz="1200" b="1" i="0" u="none" dirty="0">
                <a:solidFill>
                  <a:srgbClr val="1E3A8A"/>
                </a:solidFill>
                <a:latin typeface="Plus Jakarta Sans"/>
              </a:rPr>
              <a:t>RÉSEAU</a:t>
            </a:r>
            <a:r>
              <a:rPr lang="fr-FR" sz="1200" b="0" i="0" u="none" dirty="0">
                <a:solidFill>
                  <a:srgbClr val="1E3A8A"/>
                </a:solidFill>
                <a:latin typeface="Plus Jakarta Sans"/>
              </a:rPr>
              <a:t> !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361560-9869-40F0-98A0-F8F83C714C13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8442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D6C7709-3907-13C4-BF9E-3D53D69FF5B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49913" y="6672580"/>
            <a:ext cx="9207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800">
                <a:solidFill>
                  <a:srgbClr val="ED7D31">
                    <a:alpha val="50000"/>
                  </a:srgbClr>
                </a:solidFill>
                <a:latin typeface="Helvetica 75 Bold" panose="020B0804020202020204" pitchFamily="34" charset="0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672679"/>
            <a:ext cx="1495425" cy="2857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4613820"/>
            <a:ext cx="2886075" cy="5715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724275" y="4632870"/>
            <a:ext cx="2066925" cy="533400"/>
          </a:xfrm>
          <a:prstGeom prst="roundRect">
            <a:avLst>
              <a:gd name="adj" fmla="val 2142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58404"/>
            <a:ext cx="180975" cy="133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766220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875" y="4785270"/>
            <a:ext cx="200025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2187029"/>
            <a:ext cx="8601075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sz="4200" b="1" i="0" u="none" dirty="0">
                <a:solidFill>
                  <a:srgbClr val="F8FAFC"/>
                </a:solidFill>
                <a:latin typeface="Plus Jakarta Sans"/>
              </a:rPr>
              <a:t>Brise-Glace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4937" y="2945753"/>
            <a:ext cx="9851136" cy="9358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fr-FR" sz="1650" b="0" i="0" u="none" dirty="0">
                <a:solidFill>
                  <a:schemeClr val="bg1"/>
                </a:solidFill>
                <a:latin typeface="Plus Jakarta Sans"/>
              </a:rPr>
              <a:t>Avant de commencer Jenkins, je vous propose un petit </a:t>
            </a:r>
            <a:r>
              <a:rPr lang="fr-FR" sz="1650" b="0" i="0" u="none" dirty="0" err="1">
                <a:solidFill>
                  <a:schemeClr val="bg1"/>
                </a:solidFill>
                <a:latin typeface="Plus Jakarta Sans"/>
              </a:rPr>
              <a:t>jeu.L'objectif</a:t>
            </a:r>
            <a:r>
              <a:rPr lang="fr-FR" sz="1650" b="0" i="0" u="none" dirty="0">
                <a:solidFill>
                  <a:schemeClr val="bg1"/>
                </a:solidFill>
                <a:latin typeface="Plus Jakarta Sans"/>
              </a:rPr>
              <a:t> est simple :voir rapidement qui connaît quoi entre Git, GitLab, Docker et Jenkins. Ce n'est pas un examen. 😄Vous pouvez être débutant sur un sujet et expert sur un </a:t>
            </a:r>
            <a:r>
              <a:rPr lang="fr-FR" sz="1650" b="0" i="0" u="none" dirty="0" err="1">
                <a:solidFill>
                  <a:schemeClr val="bg1"/>
                </a:solidFill>
                <a:latin typeface="Plus Jakarta Sans"/>
              </a:rPr>
              <a:t>autre.Et</a:t>
            </a:r>
            <a:r>
              <a:rPr lang="fr-FR" sz="1650" b="0" i="0" u="none" dirty="0">
                <a:solidFill>
                  <a:schemeClr val="bg1"/>
                </a:solidFill>
                <a:latin typeface="Plus Jakarta Sans"/>
              </a:rPr>
              <a:t> surtout… pas besoin de Google pendant les 5 prochaines minutes ! 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611" y="1749392"/>
            <a:ext cx="128587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FFFFFF"/>
                </a:solidFill>
                <a:latin typeface="Plus Jakarta Sans"/>
              </a:rPr>
              <a:t>CHAT TEAMS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9325" y="1715541"/>
            <a:ext cx="15835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94A3B8"/>
                </a:solidFill>
                <a:latin typeface="Plus Jakarta Sans"/>
              </a:rPr>
              <a:t>Durée : 5 minutes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4790033"/>
            <a:ext cx="255984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1F5F9"/>
                </a:solidFill>
                <a:latin typeface="Plus Jakarta Sans"/>
              </a:rPr>
              <a:t>Formation Jenkins CI/CD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67200" y="4790033"/>
            <a:ext cx="1619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1F5F9"/>
                </a:solidFill>
                <a:latin typeface="Plus Jakarta Sans"/>
              </a:rPr>
              <a:t>Quiz Participatif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896475" y="676275"/>
            <a:ext cx="1685925" cy="371475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747837"/>
            <a:ext cx="6355109" cy="6858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2586037"/>
            <a:ext cx="6355109" cy="6858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424237"/>
            <a:ext cx="6355109" cy="6858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262437"/>
            <a:ext cx="6355109" cy="6858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38200" y="1919287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38200" y="2757487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38200" y="3595687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38200" y="4433887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709" y="2081212"/>
            <a:ext cx="4236690" cy="3619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533400"/>
            <a:ext cx="4857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A580C"/>
                </a:solidFill>
                <a:latin typeface="Plus Jakarta Sans"/>
              </a:rPr>
              <a:t>ÉTAPE 1 SUR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62000"/>
            <a:ext cx="5100637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Niveau de Maîtrise : GIT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325" y="1919287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Plus Jakarta Sans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1981200"/>
            <a:ext cx="13335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Jamais utilisé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325" y="2757487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2819400"/>
            <a:ext cx="44886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Commandes de base (clone, commit, push)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325" y="3595687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657600"/>
            <a:ext cx="303609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Utilisation régulière en équipe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325" y="4433887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495800"/>
            <a:ext cx="34528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Résolution autonome des conflits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5227290" y="1638300"/>
            <a:ext cx="6355109" cy="6858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227290" y="2476500"/>
            <a:ext cx="6355109" cy="6858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227290" y="3314700"/>
            <a:ext cx="6355109" cy="6858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227290" y="4152900"/>
            <a:ext cx="6355109" cy="6858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227290" y="5067300"/>
            <a:ext cx="6355109" cy="1076325"/>
          </a:xfrm>
          <a:prstGeom prst="roundRect">
            <a:avLst>
              <a:gd name="adj" fmla="val 10619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55890" y="18097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55890" y="26479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55890" y="34861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455890" y="43243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9600" y="533400"/>
            <a:ext cx="40243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ÉTAPE 2 SUR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62000"/>
            <a:ext cx="4225528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Pratique de GITLAB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3015" y="1809750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Plus Jakarta Sans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290" y="1871662"/>
            <a:ext cx="415528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Connaissance de l'interface uniquement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3015" y="2647950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290" y="2709862"/>
            <a:ext cx="32623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Repositories et Merge Requests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3015" y="3486150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290" y="3548062"/>
            <a:ext cx="27384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Utilisation de GitLab CI/CD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3015" y="4324350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290" y="4386262"/>
            <a:ext cx="33575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Écriture de fichiers .gitlab-ci.yml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09600" y="1938337"/>
            <a:ext cx="5825430" cy="619125"/>
          </a:xfrm>
          <a:prstGeom prst="roundRect">
            <a:avLst>
              <a:gd name="adj" fmla="val 1846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2747962"/>
            <a:ext cx="5825430" cy="1076325"/>
          </a:xfrm>
          <a:prstGeom prst="roundRect">
            <a:avLst>
              <a:gd name="adj" fmla="val 106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014787"/>
            <a:ext cx="5825430" cy="1076325"/>
          </a:xfrm>
          <a:prstGeom prst="roundRect">
            <a:avLst>
              <a:gd name="adj" fmla="val 106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2747962"/>
            <a:ext cx="38100" cy="10763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4014787"/>
            <a:ext cx="38100" cy="10763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030" y="2081212"/>
            <a:ext cx="4766369" cy="3619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533400"/>
            <a:ext cx="406003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ÉTAPE 3 SUR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62000"/>
            <a:ext cx="4263032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Challenge DOCKER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2128837"/>
            <a:ext cx="680553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monospace"/>
              </a:rPr>
              <a:t>$ docker run nginx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938462"/>
            <a:ext cx="675791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Question 1 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195637"/>
            <a:ext cx="550158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Qu'est-ce que Docker fait exactement lors de l'exécution de cette commande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205287"/>
            <a:ext cx="675791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Question 2 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4462462"/>
            <a:ext cx="550158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Expliquez la différence essentielle entre une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IMAGE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et un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CONTAINER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86900" y="676275"/>
            <a:ext cx="2095500" cy="371475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227290" y="1638300"/>
            <a:ext cx="6355109" cy="6858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227290" y="2476500"/>
            <a:ext cx="6355109" cy="6858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227290" y="3314700"/>
            <a:ext cx="6355109" cy="6858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227290" y="4152900"/>
            <a:ext cx="6355109" cy="6858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55890" y="18097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55890" y="26479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55890" y="34861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455890" y="43243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081212"/>
            <a:ext cx="4236690" cy="3619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533400"/>
            <a:ext cx="5286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ÉTAPE 4 SUR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62000"/>
            <a:ext cx="5550693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Le Sujet du Jour : JENKINS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3015" y="1809750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Plus Jakarta Sans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290" y="1871662"/>
            <a:ext cx="13335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Jamais utilisé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3015" y="2647950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290" y="2709862"/>
            <a:ext cx="29646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Lancement de Jobs existants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3015" y="3486150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290" y="3548062"/>
            <a:ext cx="341709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Création de Pipelines / Jenkinsfile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3015" y="4324350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290" y="4386262"/>
            <a:ext cx="415528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Agents, Credentials, Webhooks &amp; CI/CD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933950" y="1505991"/>
            <a:ext cx="2324100" cy="352425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343275" y="4590008"/>
            <a:ext cx="5505450" cy="7620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475" y="4818608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2037" y="1582191"/>
            <a:ext cx="24479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52E16"/>
                </a:solidFill>
                <a:latin typeface="Plus Jakarta Sans"/>
              </a:rPr>
              <a:t>OBJECTIF 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296" y="2087016"/>
            <a:ext cx="11251406" cy="1188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sz="3900" b="1" i="0" u="none" dirty="0">
                <a:solidFill>
                  <a:srgbClr val="F8FAFC"/>
                </a:solidFill>
                <a:latin typeface="Plus Jakarta Sans"/>
              </a:rPr>
              <a:t>Transformer les Pipelines Rouges </a:t>
            </a:r>
            <a:r>
              <a:rPr sz="3900" b="1" i="0" u="none" dirty="0" err="1">
                <a:solidFill>
                  <a:srgbClr val="F8FAFC"/>
                </a:solidFill>
                <a:latin typeface="Plus Jakarta Sans"/>
              </a:rPr>
              <a:t>en</a:t>
            </a:r>
            <a:r>
              <a:rPr sz="3900" b="1" i="0" u="none" dirty="0">
                <a:solidFill>
                  <a:srgbClr val="F8FAFC"/>
                </a:solidFill>
                <a:latin typeface="Plus Jakarta Sans"/>
              </a:rPr>
              <a:t> Pipelines Verts 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8812" y="3504158"/>
            <a:ext cx="83343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Plus Jakarta Sans"/>
              </a:rPr>
              <a:t>Et quand un build échoue... nous apprendrons à lire les logs sans paniquer 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83806" y="4828133"/>
            <a:ext cx="5119687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F8FAFC"/>
                </a:solidFill>
                <a:latin typeface="Plus Jakarta Sans"/>
              </a:rPr>
              <a:t>Bienvenue dans la formation Jenkins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6c818a6-e1a0-4a6e-a969-20d857c5dc62}" enabled="1" method="Standard" siteId="{90c7a20a-f34b-40bf-bc48-b9253b6f5d20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312</Words>
  <Application>Microsoft Office PowerPoint</Application>
  <PresentationFormat>Grand écran</PresentationFormat>
  <Paragraphs>55</Paragraphs>
  <Slides>6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3" baseType="lpstr">
      <vt:lpstr>Aptos</vt:lpstr>
      <vt:lpstr>Calibri</vt:lpstr>
      <vt:lpstr>Helvetica 75 Bold</vt:lpstr>
      <vt:lpstr>Plus Jakarta Sans</vt:lpstr>
      <vt:lpstr>monospace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BETTAIEB Mohamed Ali SOFRECOM</cp:lastModifiedBy>
  <cp:revision>2</cp:revision>
  <dcterms:created xsi:type="dcterms:W3CDTF">2013-01-27T09:14:16Z</dcterms:created>
  <dcterms:modified xsi:type="dcterms:W3CDTF">2026-09-23T15:29:23Z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Orange Restricted</vt:lpwstr>
  </property>
</Properties>
</file>